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Georgia Pro Condensed Light" panose="020B0604020202020204" charset="0"/>
      <p:regular r:id="rId14"/>
    </p:embeddedFont>
    <p:embeddedFont>
      <p:font typeface="TT Interphases" panose="020B0604020202020204" charset="0"/>
      <p:regular r:id="rId15"/>
    </p:embeddedFont>
    <p:embeddedFont>
      <p:font typeface="TT Interphase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1562100"/>
            <a:ext cx="8629650" cy="8724900"/>
            <a:chOff x="0" y="0"/>
            <a:chExt cx="2482140" cy="2509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2140" cy="2509537"/>
            </a:xfrm>
            <a:custGeom>
              <a:avLst/>
              <a:gdLst/>
              <a:ahLst/>
              <a:cxnLst/>
              <a:rect l="l" t="t" r="r" b="b"/>
              <a:pathLst>
                <a:path w="2482140" h="2509537">
                  <a:moveTo>
                    <a:pt x="0" y="0"/>
                  </a:moveTo>
                  <a:lnTo>
                    <a:pt x="2482140" y="0"/>
                  </a:lnTo>
                  <a:lnTo>
                    <a:pt x="2482140" y="2509537"/>
                  </a:lnTo>
                  <a:lnTo>
                    <a:pt x="0" y="2509537"/>
                  </a:lnTo>
                  <a:close/>
                </a:path>
              </a:pathLst>
            </a:custGeom>
            <a:blipFill>
              <a:blip r:embed="rId2"/>
              <a:stretch>
                <a:fillRect t="-80" b="-80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1619250"/>
            <a:ext cx="6886575" cy="3034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Gestion de Stock &amp; Inventaire – Application Web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8899644"/>
            <a:ext cx="5448300" cy="715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dirty="0" err="1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Présenté</a:t>
            </a:r>
            <a:r>
              <a:rPr lang="en-US" sz="2100" u="none" strike="noStrike" dirty="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par </a:t>
            </a:r>
            <a:r>
              <a:rPr lang="en-US" sz="2100" dirty="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Ahmed El </a:t>
            </a:r>
            <a:r>
              <a:rPr lang="en-US" sz="2100" dirty="0" err="1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mahdi</a:t>
            </a:r>
            <a:r>
              <a:rPr lang="en-US" sz="2100" dirty="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El </a:t>
            </a:r>
            <a:r>
              <a:rPr lang="en-US" sz="2100" dirty="0" err="1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Ouariti</a:t>
            </a:r>
            <a:r>
              <a:rPr lang="en-US" sz="2100" dirty="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et </a:t>
            </a:r>
            <a:r>
              <a:rPr lang="en-US" sz="2100" dirty="0" err="1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MohamedEL</a:t>
            </a:r>
            <a:r>
              <a:rPr lang="en-US" sz="2100" dirty="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BOUTAHRI</a:t>
            </a:r>
            <a:r>
              <a:rPr lang="en-US" sz="2100" u="none" strike="noStrike" dirty="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666750" y="1263650"/>
            <a:ext cx="16954500" cy="0"/>
          </a:xfrm>
          <a:prstGeom prst="line">
            <a:avLst/>
          </a:prstGeom>
          <a:ln w="9525" cap="flat">
            <a:solidFill>
              <a:srgbClr val="ECF0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666750" y="695325"/>
            <a:ext cx="169545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sz="2100" b="1">
                <a:solidFill>
                  <a:srgbClr val="ECF0F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GESTION DE STOCK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69" b="-6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Importance de la Gestion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ECF0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666750" y="6873240"/>
            <a:ext cx="6886575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 </a:t>
            </a:r>
            <a:r>
              <a:rPr lang="en-US" sz="2100" b="1">
                <a:solidFill>
                  <a:srgbClr val="ECF0F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gestion efficace des stocks</a:t>
            </a:r>
            <a:r>
              <a:rPr lang="en-US" sz="210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est cruciale pour le succès des entreprises. Elle permet d'éviter les erreurs, de réduire les pertes et d'assurer un suivi fiable des produits. L'application web proposée vise à simplifier ces processus en offrant une solution moderne.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53325" y="3352800"/>
            <a:ext cx="10734675" cy="6934200"/>
            <a:chOff x="0" y="0"/>
            <a:chExt cx="1128310" cy="7288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8310" cy="728846"/>
            </a:xfrm>
            <a:custGeom>
              <a:avLst/>
              <a:gdLst/>
              <a:ahLst/>
              <a:cxnLst/>
              <a:rect l="l" t="t" r="r" b="b"/>
              <a:pathLst>
                <a:path w="1128310" h="728846">
                  <a:moveTo>
                    <a:pt x="0" y="0"/>
                  </a:moveTo>
                  <a:lnTo>
                    <a:pt x="1128310" y="0"/>
                  </a:lnTo>
                  <a:lnTo>
                    <a:pt x="1128310" y="728846"/>
                  </a:lnTo>
                  <a:lnTo>
                    <a:pt x="0" y="728846"/>
                  </a:lnTo>
                  <a:close/>
                </a:path>
              </a:pathLst>
            </a:custGeom>
            <a:blipFill>
              <a:blip r:embed="rId2"/>
              <a:stretch>
                <a:fillRect l="-74" r="-74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ECF0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666750" y="723900"/>
            <a:ext cx="1120140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Problématique et Solution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666750" y="61531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23900"/>
            <a:ext cx="5753100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Objectifs du Projet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858125" y="657225"/>
            <a:ext cx="4314825" cy="2263140"/>
            <a:chOff x="0" y="0"/>
            <a:chExt cx="5753100" cy="3017519"/>
          </a:xfrm>
        </p:grpSpPr>
        <p:sp>
          <p:nvSpPr>
            <p:cNvPr id="4" name="AutoShape 4"/>
            <p:cNvSpPr/>
            <p:nvPr/>
          </p:nvSpPr>
          <p:spPr>
            <a:xfrm flipV="1"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55115"/>
              <a:ext cx="5753100" cy="1462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Améliorer la </a:t>
              </a:r>
              <a:r>
                <a:rPr lang="en-US" sz="2100" b="1">
                  <a:solidFill>
                    <a:srgbClr val="ECF0F1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visibilité</a:t>
              </a: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des niveaux de stock en temps réel pour des décisions éclairées.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14045"/>
              <a:ext cx="5753100" cy="592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Suivi des stocks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306425" y="657225"/>
            <a:ext cx="4314825" cy="2263140"/>
            <a:chOff x="0" y="0"/>
            <a:chExt cx="5753100" cy="3017519"/>
          </a:xfrm>
        </p:grpSpPr>
        <p:sp>
          <p:nvSpPr>
            <p:cNvPr id="8" name="AutoShape 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555115"/>
              <a:ext cx="5753100" cy="1462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Automatiser les </a:t>
              </a:r>
              <a:r>
                <a:rPr lang="en-US" sz="2100" b="1">
                  <a:solidFill>
                    <a:srgbClr val="ECF0F1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processus</a:t>
              </a: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d'inventaire pour réduire les erreurs humaines et gagner du temps.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14045"/>
              <a:ext cx="5753100" cy="592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Automatisation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58125" y="5133975"/>
            <a:ext cx="4314825" cy="2634615"/>
            <a:chOff x="0" y="0"/>
            <a:chExt cx="5753100" cy="3512819"/>
          </a:xfrm>
        </p:grpSpPr>
        <p:sp>
          <p:nvSpPr>
            <p:cNvPr id="12" name="AutoShape 12"/>
            <p:cNvSpPr/>
            <p:nvPr/>
          </p:nvSpPr>
          <p:spPr>
            <a:xfrm flipV="1"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555115"/>
              <a:ext cx="5753100" cy="1957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Faciliter l'</a:t>
              </a:r>
              <a:r>
                <a:rPr lang="en-US" sz="2100" b="1">
                  <a:solidFill>
                    <a:srgbClr val="ECF0F1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accès</a:t>
              </a: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instantané aux données critiques pour les utilisateurs sur toutes les plateformes.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14045"/>
              <a:ext cx="5753100" cy="592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Accès aux données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06425" y="5133975"/>
            <a:ext cx="4314825" cy="2263140"/>
            <a:chOff x="0" y="0"/>
            <a:chExt cx="5753100" cy="3017519"/>
          </a:xfrm>
        </p:grpSpPr>
        <p:sp>
          <p:nvSpPr>
            <p:cNvPr id="16" name="AutoShape 1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555115"/>
              <a:ext cx="5753100" cy="1462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Offrir une </a:t>
              </a:r>
              <a:r>
                <a:rPr lang="en-US" sz="2100" b="1">
                  <a:solidFill>
                    <a:srgbClr val="ECF0F1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interface</a:t>
              </a: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conviviale et intuitive, optimisée pour une expérience utilisateur sans accroc.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14045"/>
              <a:ext cx="5753100" cy="592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Ergonomie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666750" y="61531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69" b="-6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Aperçu de l’Application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ECF0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666750" y="6501765"/>
            <a:ext cx="6886575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L'</a:t>
            </a:r>
            <a:r>
              <a:rPr lang="en-US" sz="2100" b="1">
                <a:solidFill>
                  <a:srgbClr val="ECF0F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interface utilisateur moderne</a:t>
            </a:r>
            <a:r>
              <a:rPr lang="en-US" sz="210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notre application web offre une expérience intuitive et fluide. Conçue pour faciliter la gestion des stocks, elle permet aux utilisateurs de naviguer facilement entre les fonctionnalités tout en accédant à des données en temps réel de manière efficace.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3300" y="3352800"/>
            <a:ext cx="6886575" cy="6934200"/>
            <a:chOff x="0" y="0"/>
            <a:chExt cx="1142727" cy="11506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2727" cy="1150629"/>
            </a:xfrm>
            <a:custGeom>
              <a:avLst/>
              <a:gdLst/>
              <a:ahLst/>
              <a:cxnLst/>
              <a:rect l="l" t="t" r="r" b="b"/>
              <a:pathLst>
                <a:path w="1142727" h="1150629">
                  <a:moveTo>
                    <a:pt x="0" y="0"/>
                  </a:moveTo>
                  <a:lnTo>
                    <a:pt x="1142727" y="0"/>
                  </a:lnTo>
                  <a:lnTo>
                    <a:pt x="1142727" y="1150629"/>
                  </a:lnTo>
                  <a:lnTo>
                    <a:pt x="0" y="1150629"/>
                  </a:lnTo>
                  <a:close/>
                </a:path>
              </a:pathLst>
            </a:custGeom>
            <a:blipFill>
              <a:blip r:embed="rId2"/>
              <a:stretch>
                <a:fillRect t="-285" b="-285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1120140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Aperçu de l'Interface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72950" y="3352800"/>
            <a:ext cx="6173266" cy="6934200"/>
            <a:chOff x="0" y="0"/>
            <a:chExt cx="1024364" cy="11506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364" cy="1150629"/>
            </a:xfrm>
            <a:custGeom>
              <a:avLst/>
              <a:gdLst/>
              <a:ahLst/>
              <a:cxnLst/>
              <a:rect l="l" t="t" r="r" b="b"/>
              <a:pathLst>
                <a:path w="1024364" h="1150629">
                  <a:moveTo>
                    <a:pt x="0" y="0"/>
                  </a:moveTo>
                  <a:lnTo>
                    <a:pt x="1024364" y="0"/>
                  </a:lnTo>
                  <a:lnTo>
                    <a:pt x="1024364" y="1150629"/>
                  </a:lnTo>
                  <a:lnTo>
                    <a:pt x="0" y="1150629"/>
                  </a:lnTo>
                  <a:close/>
                </a:path>
              </a:pathLst>
            </a:custGeom>
            <a:blipFill>
              <a:blip r:embed="rId3"/>
              <a:stretch>
                <a:fillRect t="-297" b="-297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352800"/>
            <a:ext cx="3543300" cy="3581400"/>
            <a:chOff x="0" y="0"/>
            <a:chExt cx="657649" cy="664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7649" cy="664720"/>
            </a:xfrm>
            <a:custGeom>
              <a:avLst/>
              <a:gdLst/>
              <a:ahLst/>
              <a:cxnLst/>
              <a:rect l="l" t="t" r="r" b="b"/>
              <a:pathLst>
                <a:path w="657649" h="664720">
                  <a:moveTo>
                    <a:pt x="0" y="0"/>
                  </a:moveTo>
                  <a:lnTo>
                    <a:pt x="657649" y="0"/>
                  </a:lnTo>
                  <a:lnTo>
                    <a:pt x="657649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2"/>
              <a:stretch>
                <a:fillRect t="-94" b="-94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1551622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Fonctionnalités Clés de l'Application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6750" y="7353272"/>
            <a:ext cx="2876550" cy="1381125"/>
            <a:chOff x="0" y="0"/>
            <a:chExt cx="3835400" cy="18415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38354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Gestion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74395"/>
              <a:ext cx="38354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Suivi et contrôle des niveaux de stock.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2050" y="7353272"/>
            <a:ext cx="2819009" cy="1752600"/>
            <a:chOff x="0" y="0"/>
            <a:chExt cx="3758679" cy="23368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3758679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Alertes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74395"/>
              <a:ext cx="3758679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Notifications personnalisées pour seuils critiques.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052050" y="3352800"/>
            <a:ext cx="140950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03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52050" y="4248150"/>
            <a:ext cx="2876550" cy="2686050"/>
            <a:chOff x="0" y="0"/>
            <a:chExt cx="533898" cy="4985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3898" cy="498540"/>
            </a:xfrm>
            <a:custGeom>
              <a:avLst/>
              <a:gdLst/>
              <a:ahLst/>
              <a:cxnLst/>
              <a:rect l="l" t="t" r="r" b="b"/>
              <a:pathLst>
                <a:path w="533898" h="498540">
                  <a:moveTo>
                    <a:pt x="0" y="0"/>
                  </a:moveTo>
                  <a:lnTo>
                    <a:pt x="533898" y="0"/>
                  </a:lnTo>
                  <a:lnTo>
                    <a:pt x="533898" y="498540"/>
                  </a:lnTo>
                  <a:lnTo>
                    <a:pt x="0" y="498540"/>
                  </a:lnTo>
                  <a:close/>
                </a:path>
              </a:pathLst>
            </a:custGeom>
            <a:blipFill>
              <a:blip r:embed="rId3"/>
              <a:stretch>
                <a:fillRect l="-135" r="-135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00" y="4248150"/>
            <a:ext cx="2876550" cy="2686050"/>
            <a:chOff x="0" y="0"/>
            <a:chExt cx="533898" cy="4985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898" cy="498540"/>
            </a:xfrm>
            <a:custGeom>
              <a:avLst/>
              <a:gdLst/>
              <a:ahLst/>
              <a:cxnLst/>
              <a:rect l="l" t="t" r="r" b="b"/>
              <a:pathLst>
                <a:path w="533898" h="498540">
                  <a:moveTo>
                    <a:pt x="0" y="0"/>
                  </a:moveTo>
                  <a:lnTo>
                    <a:pt x="533898" y="0"/>
                  </a:lnTo>
                  <a:lnTo>
                    <a:pt x="533898" y="498540"/>
                  </a:lnTo>
                  <a:lnTo>
                    <a:pt x="0" y="498540"/>
                  </a:lnTo>
                  <a:close/>
                </a:path>
              </a:pathLst>
            </a:custGeom>
            <a:blipFill>
              <a:blip r:embed="rId4"/>
              <a:stretch>
                <a:fillRect l="-135" r="-135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59400" y="7353272"/>
            <a:ext cx="2876550" cy="1381125"/>
            <a:chOff x="0" y="0"/>
            <a:chExt cx="3835400" cy="184150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0"/>
              <a:ext cx="38354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Automatisation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874395"/>
              <a:ext cx="38354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Mises à jour en temps réel des inventaires.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359400" y="3352800"/>
            <a:ext cx="143827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750" y="2457450"/>
            <a:ext cx="143827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01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4744700" y="7353272"/>
            <a:ext cx="2876550" cy="1752600"/>
            <a:chOff x="0" y="0"/>
            <a:chExt cx="3835400" cy="233680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0"/>
              <a:ext cx="38354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Rapports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874395"/>
              <a:ext cx="38354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Visualisation des données clés via infographies.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744700" y="2457450"/>
            <a:ext cx="143827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04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744700" y="3345756"/>
            <a:ext cx="3543300" cy="3581400"/>
            <a:chOff x="0" y="0"/>
            <a:chExt cx="657649" cy="6647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57649" cy="664720"/>
            </a:xfrm>
            <a:custGeom>
              <a:avLst/>
              <a:gdLst/>
              <a:ahLst/>
              <a:cxnLst/>
              <a:rect l="l" t="t" r="r" b="b"/>
              <a:pathLst>
                <a:path w="657649" h="664720">
                  <a:moveTo>
                    <a:pt x="0" y="0"/>
                  </a:moveTo>
                  <a:lnTo>
                    <a:pt x="657649" y="0"/>
                  </a:lnTo>
                  <a:lnTo>
                    <a:pt x="657649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5"/>
              <a:stretch>
                <a:fillRect t="-94" b="-94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352800"/>
            <a:ext cx="3543300" cy="3581400"/>
            <a:chOff x="0" y="0"/>
            <a:chExt cx="657649" cy="664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7649" cy="664720"/>
            </a:xfrm>
            <a:custGeom>
              <a:avLst/>
              <a:gdLst/>
              <a:ahLst/>
              <a:cxnLst/>
              <a:rect l="l" t="t" r="r" b="b"/>
              <a:pathLst>
                <a:path w="657649" h="664720">
                  <a:moveTo>
                    <a:pt x="0" y="0"/>
                  </a:moveTo>
                  <a:lnTo>
                    <a:pt x="657649" y="0"/>
                  </a:lnTo>
                  <a:lnTo>
                    <a:pt x="657649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2"/>
              <a:stretch>
                <a:fillRect t="-94" b="-94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1551622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Fonctionnalités Principales de l'Application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6750" y="7353272"/>
            <a:ext cx="2876550" cy="1752600"/>
            <a:chOff x="0" y="0"/>
            <a:chExt cx="3835400" cy="23368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38354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Gestion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74395"/>
              <a:ext cx="38354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Suivi des stocks facilement et efficacement.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2050" y="7353272"/>
            <a:ext cx="2819009" cy="1752600"/>
            <a:chOff x="0" y="0"/>
            <a:chExt cx="3758679" cy="23368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3758679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Alertes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74395"/>
              <a:ext cx="3758679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Notifications pour seuils critiques de stock.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052050" y="3352800"/>
            <a:ext cx="140950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03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52050" y="4248150"/>
            <a:ext cx="2876550" cy="2686050"/>
            <a:chOff x="0" y="0"/>
            <a:chExt cx="533898" cy="4985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3898" cy="498540"/>
            </a:xfrm>
            <a:custGeom>
              <a:avLst/>
              <a:gdLst/>
              <a:ahLst/>
              <a:cxnLst/>
              <a:rect l="l" t="t" r="r" b="b"/>
              <a:pathLst>
                <a:path w="533898" h="498540">
                  <a:moveTo>
                    <a:pt x="0" y="0"/>
                  </a:moveTo>
                  <a:lnTo>
                    <a:pt x="533898" y="0"/>
                  </a:lnTo>
                  <a:lnTo>
                    <a:pt x="533898" y="498540"/>
                  </a:lnTo>
                  <a:lnTo>
                    <a:pt x="0" y="498540"/>
                  </a:lnTo>
                  <a:close/>
                </a:path>
              </a:pathLst>
            </a:custGeom>
            <a:blipFill>
              <a:blip r:embed="rId3"/>
              <a:stretch>
                <a:fillRect l="-135" r="-135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00" y="4248150"/>
            <a:ext cx="2876550" cy="2686050"/>
            <a:chOff x="0" y="0"/>
            <a:chExt cx="533898" cy="4985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898" cy="498540"/>
            </a:xfrm>
            <a:custGeom>
              <a:avLst/>
              <a:gdLst/>
              <a:ahLst/>
              <a:cxnLst/>
              <a:rect l="l" t="t" r="r" b="b"/>
              <a:pathLst>
                <a:path w="533898" h="498540">
                  <a:moveTo>
                    <a:pt x="0" y="0"/>
                  </a:moveTo>
                  <a:lnTo>
                    <a:pt x="533898" y="0"/>
                  </a:lnTo>
                  <a:lnTo>
                    <a:pt x="533898" y="498540"/>
                  </a:lnTo>
                  <a:lnTo>
                    <a:pt x="0" y="498540"/>
                  </a:lnTo>
                  <a:close/>
                </a:path>
              </a:pathLst>
            </a:custGeom>
            <a:blipFill>
              <a:blip r:embed="rId4"/>
              <a:stretch>
                <a:fillRect l="-135" r="-135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59400" y="7353272"/>
            <a:ext cx="2876550" cy="1381125"/>
            <a:chOff x="0" y="0"/>
            <a:chExt cx="3835400" cy="184150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0"/>
              <a:ext cx="38354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Automatisation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874395"/>
              <a:ext cx="38354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Mises à jour en temps réel et précises.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359400" y="3352800"/>
            <a:ext cx="143827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750" y="2457450"/>
            <a:ext cx="143827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01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4744700" y="7353272"/>
            <a:ext cx="2876550" cy="1752600"/>
            <a:chOff x="0" y="0"/>
            <a:chExt cx="3835400" cy="233680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0"/>
              <a:ext cx="38354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Statistiques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874395"/>
              <a:ext cx="38354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Visualisation des performances de l'inventaire.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744700" y="2457450"/>
            <a:ext cx="143827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04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744700" y="3345756"/>
            <a:ext cx="3543300" cy="3581400"/>
            <a:chOff x="0" y="0"/>
            <a:chExt cx="657649" cy="6647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57649" cy="664720"/>
            </a:xfrm>
            <a:custGeom>
              <a:avLst/>
              <a:gdLst/>
              <a:ahLst/>
              <a:cxnLst/>
              <a:rect l="l" t="t" r="r" b="b"/>
              <a:pathLst>
                <a:path w="657649" h="664720">
                  <a:moveTo>
                    <a:pt x="0" y="0"/>
                  </a:moveTo>
                  <a:lnTo>
                    <a:pt x="657649" y="0"/>
                  </a:lnTo>
                  <a:lnTo>
                    <a:pt x="657649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5"/>
              <a:stretch>
                <a:fillRect t="-94" b="-94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23900"/>
            <a:ext cx="1120140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Avantages et Bénéfices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115050" y="4238625"/>
            <a:ext cx="4314825" cy="2639377"/>
            <a:chOff x="0" y="0"/>
            <a:chExt cx="5753100" cy="3519169"/>
          </a:xfrm>
        </p:grpSpPr>
        <p:sp>
          <p:nvSpPr>
            <p:cNvPr id="4" name="TextBox 4"/>
            <p:cNvSpPr txBox="1"/>
            <p:nvPr/>
          </p:nvSpPr>
          <p:spPr>
            <a:xfrm>
              <a:off x="0" y="1561465"/>
              <a:ext cx="5753100" cy="1957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L’application permet de </a:t>
              </a:r>
              <a:r>
                <a:rPr lang="en-US" sz="2100" b="1" u="none" strike="noStrike">
                  <a:solidFill>
                    <a:srgbClr val="ECF0F1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réduire les erreurs humaines</a:t>
              </a:r>
              <a:r>
                <a:rPr lang="en-US" sz="2100" u="none" strike="noStrike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et d’optimiser le temps consacré aux tâches administratives.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14045"/>
              <a:ext cx="5753100" cy="592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Gain de Temps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868150" y="4238625"/>
            <a:ext cx="4619625" cy="2639377"/>
            <a:chOff x="0" y="0"/>
            <a:chExt cx="6159500" cy="3519169"/>
          </a:xfrm>
        </p:grpSpPr>
        <p:sp>
          <p:nvSpPr>
            <p:cNvPr id="8" name="TextBox 8"/>
            <p:cNvSpPr txBox="1"/>
            <p:nvPr/>
          </p:nvSpPr>
          <p:spPr>
            <a:xfrm>
              <a:off x="0" y="1561465"/>
              <a:ext cx="6159500" cy="1957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Grâce aux données précises et actualisées, les utilisateurs peuvent prendre des décisions éclairées et stratégiques en temps réel.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14045"/>
              <a:ext cx="6159500" cy="592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Meilleure Prise de Décision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23900"/>
            <a:ext cx="1551622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Cas d’Utilisations dans la Gestion de Stock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2929425"/>
            <a:ext cx="4314825" cy="3557100"/>
            <a:chOff x="0" y="0"/>
            <a:chExt cx="800847" cy="660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847" cy="660210"/>
            </a:xfrm>
            <a:custGeom>
              <a:avLst/>
              <a:gdLst/>
              <a:ahLst/>
              <a:cxnLst/>
              <a:rect l="l" t="t" r="r" b="b"/>
              <a:pathLst>
                <a:path w="800847" h="660210">
                  <a:moveTo>
                    <a:pt x="0" y="0"/>
                  </a:moveTo>
                  <a:lnTo>
                    <a:pt x="800847" y="0"/>
                  </a:lnTo>
                  <a:lnTo>
                    <a:pt x="800847" y="660210"/>
                  </a:lnTo>
                  <a:lnTo>
                    <a:pt x="0" y="660210"/>
                  </a:lnTo>
                  <a:close/>
                </a:path>
              </a:pathLst>
            </a:custGeom>
            <a:blipFill>
              <a:blip r:embed="rId2"/>
              <a:stretch>
                <a:fillRect l="-114" r="-114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953250"/>
            <a:ext cx="4010025" cy="1381125"/>
            <a:chOff x="0" y="0"/>
            <a:chExt cx="5346700" cy="18415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53467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Distribution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74395"/>
              <a:ext cx="53467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Optimisation des stocks pour une PME efficace.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1971648"/>
            <a:ext cx="143827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611225" y="2905125"/>
            <a:ext cx="4676775" cy="3581400"/>
            <a:chOff x="0" y="0"/>
            <a:chExt cx="868026" cy="6647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68026" cy="664720"/>
            </a:xfrm>
            <a:custGeom>
              <a:avLst/>
              <a:gdLst/>
              <a:ahLst/>
              <a:cxnLst/>
              <a:rect l="l" t="t" r="r" b="b"/>
              <a:pathLst>
                <a:path w="868026" h="664720">
                  <a:moveTo>
                    <a:pt x="0" y="0"/>
                  </a:moveTo>
                  <a:lnTo>
                    <a:pt x="868026" y="0"/>
                  </a:lnTo>
                  <a:lnTo>
                    <a:pt x="868026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3"/>
              <a:stretch>
                <a:fillRect l="-51" r="-51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6934200"/>
            <a:ext cx="4010025" cy="1381125"/>
            <a:chOff x="0" y="0"/>
            <a:chExt cx="5346700" cy="18415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0"/>
              <a:ext cx="53467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Fabrication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74395"/>
              <a:ext cx="53467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Gestion des matières premières pour une production optimale.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611225" y="1971648"/>
            <a:ext cx="143827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291387" y="4248150"/>
            <a:ext cx="4010025" cy="3581400"/>
            <a:chOff x="0" y="0"/>
            <a:chExt cx="744275" cy="664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4275" cy="664720"/>
            </a:xfrm>
            <a:custGeom>
              <a:avLst/>
              <a:gdLst/>
              <a:ahLst/>
              <a:cxnLst/>
              <a:rect l="l" t="t" r="r" b="b"/>
              <a:pathLst>
                <a:path w="744275" h="664720">
                  <a:moveTo>
                    <a:pt x="0" y="0"/>
                  </a:moveTo>
                  <a:lnTo>
                    <a:pt x="744275" y="0"/>
                  </a:lnTo>
                  <a:lnTo>
                    <a:pt x="744275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4"/>
              <a:stretch>
                <a:fillRect l="-104" r="-104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91388" y="8239162"/>
            <a:ext cx="4010025" cy="1381125"/>
            <a:chOff x="0" y="0"/>
            <a:chExt cx="5346700" cy="184150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0"/>
              <a:ext cx="53467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Commerce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874395"/>
              <a:ext cx="53467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Suivi des produits pour une meilleure vente.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91388" y="3352800"/>
            <a:ext cx="143827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02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23900"/>
            <a:ext cx="575310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Feuille de route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0" y="666750"/>
            <a:ext cx="361950" cy="3619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65631" y="666750"/>
            <a:ext cx="5417344" cy="1013433"/>
            <a:chOff x="0" y="0"/>
            <a:chExt cx="7223125" cy="1351244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7223125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2023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79439"/>
              <a:ext cx="7223125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ECF0F1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Lancement</a:t>
              </a: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du projet initial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65631" y="4248467"/>
            <a:ext cx="5417344" cy="1013116"/>
            <a:chOff x="0" y="0"/>
            <a:chExt cx="7223125" cy="135082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7223125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2025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79016"/>
              <a:ext cx="7223125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Première version bêta publiée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2457450"/>
            <a:ext cx="361950" cy="36195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4248467"/>
            <a:ext cx="361950" cy="3619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765631" y="6038850"/>
            <a:ext cx="5417344" cy="1013433"/>
            <a:chOff x="0" y="0"/>
            <a:chExt cx="7223125" cy="1351244"/>
          </a:xfrm>
        </p:grpSpPr>
        <p:sp>
          <p:nvSpPr>
            <p:cNvPr id="19" name="TextBox 19"/>
            <p:cNvSpPr txBox="1"/>
            <p:nvPr/>
          </p:nvSpPr>
          <p:spPr>
            <a:xfrm>
              <a:off x="0" y="0"/>
              <a:ext cx="7223125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2026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879439"/>
              <a:ext cx="7223125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Intégration des retours utilisateurs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0" y="6039167"/>
            <a:ext cx="361950" cy="36195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765631" y="2457450"/>
            <a:ext cx="5417344" cy="1013433"/>
            <a:chOff x="0" y="0"/>
            <a:chExt cx="7223125" cy="1351244"/>
          </a:xfrm>
        </p:grpSpPr>
        <p:sp>
          <p:nvSpPr>
            <p:cNvPr id="25" name="TextBox 25"/>
            <p:cNvSpPr txBox="1"/>
            <p:nvPr/>
          </p:nvSpPr>
          <p:spPr>
            <a:xfrm>
              <a:off x="0" y="0"/>
              <a:ext cx="7223125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2024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879439"/>
              <a:ext cx="7223125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Développement des fonctionnalités clés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flipV="1">
            <a:off x="9324975" y="-3333750"/>
            <a:ext cx="0" cy="16954500"/>
          </a:xfrm>
          <a:prstGeom prst="line">
            <a:avLst/>
          </a:prstGeom>
          <a:ln w="19050" cap="flat">
            <a:solidFill>
              <a:srgbClr val="ECF0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69" b="-6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Conclusion et Invitation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ECF0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666750" y="6873240"/>
            <a:ext cx="6886575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 résumé, notre application de gestion de stock et inventaire propose une solution </a:t>
            </a:r>
            <a:r>
              <a:rPr lang="en-US" sz="2100" b="1">
                <a:solidFill>
                  <a:srgbClr val="ECF0F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révolutionnaire</a:t>
            </a:r>
            <a:r>
              <a:rPr lang="en-US" sz="210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pour optimiser les processus métier. Nous vous invitons à </a:t>
            </a:r>
            <a:r>
              <a:rPr lang="en-US" sz="2100" b="1">
                <a:solidFill>
                  <a:srgbClr val="ECF0F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tester notre application</a:t>
            </a:r>
            <a:r>
              <a:rPr lang="en-US" sz="2100">
                <a:solidFill>
                  <a:srgbClr val="ECF0F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pour découvrir comment elle peut transformer votre gestion de stock au quotidien.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428</Words>
  <Application>Microsoft Office PowerPoint</Application>
  <PresentationFormat>Personnalisé</PresentationFormat>
  <Paragraphs>70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Georgia Pro Condensed Light</vt:lpstr>
      <vt:lpstr>TT Interphases</vt:lpstr>
      <vt:lpstr>Calibri</vt:lpstr>
      <vt:lpstr>TT Interphases Bold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- Gestion de Stock &amp; Inventaire – Application Web</dc:title>
  <dc:description>Présentation - Gestion de Stock &amp; Inventaire – Application Web</dc:description>
  <cp:lastModifiedBy>mohamed el boutahri</cp:lastModifiedBy>
  <cp:revision>2</cp:revision>
  <dcterms:created xsi:type="dcterms:W3CDTF">2006-08-16T00:00:00Z</dcterms:created>
  <dcterms:modified xsi:type="dcterms:W3CDTF">2026-01-03T18:31:11Z</dcterms:modified>
  <dc:identifier>DAG9YmQ07wk</dc:identifier>
</cp:coreProperties>
</file>